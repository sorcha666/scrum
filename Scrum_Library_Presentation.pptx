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8"/>
    <p:sldId id="264" r:id="rId7"/>
    <p:sldId id="265" r:id="rId6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0000" cy="10287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00" y="0"/>
            <a:ext cx="7560000" cy="10287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000" y="360000"/>
            <a:ext cx="1260000" cy="12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68000" y="1728000"/>
            <a:ext cx="2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EPItech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44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Municipal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52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94F37"/>
                </a:solidFill>
              </a:rP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78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00B4D8"/>
                </a:solidFill>
              </a:rPr>
              <a:t>Scrum-Based Software Development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4500000"/>
            <a:ext cx="7200000" cy="36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4788000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👤  [Name 1]  •  [Name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5292000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🎓  4th Year — Software Engineering  |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724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⏱  Estimated Presentation Time: ~8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9747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94F37"/>
                </a:solidFill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Context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Why a digital library management system?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512000"/>
            <a:ext cx="108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network of municipal libraries needs a unified digital platform to manage their daily operations — book catalogues, member subscriptions, loans, reservations and transfers between branches. The system must support multiple user roles with secure, role-based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3600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360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37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421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Digitize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607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Replace manual processes with a unified web platform covering all library branches.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2000" y="3600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2000" y="360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6000" y="37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0" y="421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000" y="4607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Role-based authentication for Staff, Librarians, Central Service &amp; Readers.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04000" y="3600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04000" y="360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8000" y="370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8000" y="421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Agile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8000" y="4607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Structured into 4 Sprints using Scrum methodology with strict velocity control (≤32 SP).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Scrum Team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Roles, ceremonies and sprint cadence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5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627999"/>
            <a:ext cx="52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Defines priorities, validates increments,
represents stakeholders.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20000"/>
            <a:ext cx="55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2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Scrum Master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0" y="2627999"/>
            <a:ext cx="52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Facilitates ceremonies, removes blockers,
ensures Scrum compliance.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04000" y="1620000"/>
            <a:ext cx="55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04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8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8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 Team (×4)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8000" y="2627999"/>
            <a:ext cx="52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Analysis · Modelling · Design ·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752000"/>
            <a:ext cx="14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4F37"/>
                </a:solidFill>
              </a:rPr>
              <a:t>Scrum Ceremonies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5220000"/>
            <a:ext cx="3960000" cy="9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000" y="536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◆  Sprint Planning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60000" y="5220000"/>
            <a:ext cx="3960000" cy="9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4000" y="536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◆  Daily Stand-up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000" y="5220000"/>
            <a:ext cx="3960000" cy="9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4000" y="536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◆  Sprint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500000" y="5220000"/>
            <a:ext cx="3960000" cy="9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44000" y="5364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◆  Retrospective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6300000"/>
            <a:ext cx="16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📅  Sprint duration: 2 weeks   |   Velocity target: ≤ 32 SP / Sprint   |   4 Sprints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Case Study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5 functional domains extracted from the requirements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5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Library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627999"/>
            <a:ext cx="52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Create branches, hire staff, assign managers, attribute unique book IDs.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20000"/>
            <a:ext cx="55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2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Catalogue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0" y="2627999"/>
            <a:ext cx="52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Manage books, authors, publishers, editions, prices and genres.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04000" y="1620000"/>
            <a:ext cx="55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04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8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8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Memberships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8000" y="2627999"/>
            <a:ext cx="52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Online card creation for residents, professional reader registration.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4680000"/>
            <a:ext cx="82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000" y="4680000"/>
            <a:ext cx="82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000" y="478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000" y="5292000"/>
            <a:ext cx="79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Loans &amp; Returns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5687999"/>
            <a:ext cx="79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Borrow/return tracking, 3-book limit enforcement, late fees.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60000" y="4680000"/>
            <a:ext cx="5580000" cy="27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60000" y="468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4000" y="478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4000" y="529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Transfers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4000" y="5687999"/>
            <a:ext cx="5292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Inter-branch book transfers, deficit detection, transfer slips.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Product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39 User Stories · 124 Story Points · MoSCoW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512000"/>
            <a:ext cx="3960000" cy="18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512000"/>
            <a:ext cx="3960000" cy="10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692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B4D8"/>
                </a:solidFill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6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User Stories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0" y="1512000"/>
            <a:ext cx="3960000" cy="18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60000" y="1512000"/>
            <a:ext cx="3960000" cy="10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0" y="1692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94F37"/>
                </a:solidFill>
              </a:rPr>
              <a:t>124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0" y="26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Story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0000" y="1512000"/>
            <a:ext cx="3960000" cy="18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0000" y="1512000"/>
            <a:ext cx="3960000" cy="10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000" y="1692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A50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000" y="26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Sprints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500000" y="1512000"/>
            <a:ext cx="3960000" cy="180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500000" y="1512000"/>
            <a:ext cx="3960000" cy="108000"/>
          </a:xfrm>
          <a:prstGeom prst="rect">
            <a:avLst/>
          </a:prstGeom>
          <a:solidFill>
            <a:srgbClr val="57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500000" y="1692000"/>
            <a:ext cx="39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57CC99"/>
                </a:solidFill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00000" y="2628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Max SP/Sprint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3780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MoSCoW Breakdown: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4320000"/>
            <a:ext cx="5400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000" y="435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  Must Have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482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22 stories · 72 SP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0000" y="4320000"/>
            <a:ext cx="5400000" cy="1152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4000" y="435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  Should Have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4000" y="482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16 stories · 50 SP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060000" y="4320000"/>
            <a:ext cx="5400000" cy="115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204000" y="4356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  Could Have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04000" y="4824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 stories · 2 SP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000" y="5868000"/>
            <a:ext cx="16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✅  All Must Have stories are completed in Sprints 1 &amp; 2 before any Should Have is started.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Sprint Planning &amp;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Strict MoSCoW ordering — Must Haves completed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512000"/>
            <a:ext cx="4140000" cy="504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512000"/>
            <a:ext cx="4140000" cy="144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620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37"/>
                </a:solidFill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2088000"/>
            <a:ext cx="37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Authentification &amp; 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84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31 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0" y="2916000"/>
            <a:ext cx="1620000" cy="28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0" y="288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All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3311999"/>
            <a:ext cx="37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US-01→13
10 stories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00" y="4068000"/>
            <a:ext cx="37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Authentication, network setup, authors,
publishers, professional readers.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2000" y="1512000"/>
            <a:ext cx="4140000" cy="504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2000" y="1512000"/>
            <a:ext cx="4140000" cy="144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8000" y="1620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4F37"/>
                </a:solidFill>
              </a:rPr>
              <a:t>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0" y="2088000"/>
            <a:ext cx="37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Acquisitions &amp; Loans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000" y="284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32 SP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72000" y="2916000"/>
            <a:ext cx="1620000" cy="28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2000" y="288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All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00" y="3311999"/>
            <a:ext cx="37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US-14,20,22→25,29,30,34
9 stories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00" y="4068000"/>
            <a:ext cx="37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Book purchasing, distribution, copy
numbering, borrowing limits.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4000" y="1512000"/>
            <a:ext cx="4140000" cy="504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4000" y="1512000"/>
            <a:ext cx="4140000" cy="144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40000" y="1620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A500"/>
                </a:solidFill>
              </a:rPr>
              <a:t>S3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0000" y="2088000"/>
            <a:ext cx="37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Reservations &amp; Catalogue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0000" y="284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31 SP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64000" y="2916000"/>
            <a:ext cx="1620000" cy="2880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64000" y="288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 +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0000" y="3311999"/>
            <a:ext cx="37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US-35,36,39 + US-04,07,10,15,16,18,19,21
11 stories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0000" y="4068000"/>
            <a:ext cx="37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Online reservations, transfers,
catalogue enrichment.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0" y="1512000"/>
            <a:ext cx="4140000" cy="504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00" y="1512000"/>
            <a:ext cx="4140000" cy="14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932000" y="1620000"/>
            <a:ext cx="1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S4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32000" y="2088000"/>
            <a:ext cx="37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Quality &amp; Transfers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32000" y="284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30 SP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56000" y="2916000"/>
            <a:ext cx="1620000" cy="28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056000" y="2880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 +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32000" y="3311999"/>
            <a:ext cx="37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US-26→28,31→33,37,38,17
9 stories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32000" y="4068000"/>
            <a:ext cx="378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Conflict management, statistics,
book condition, comments.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Use Case Diagrams — Sprint 1 &amp;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All Must Have stories · 63 SP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368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Sprint 1 — Authentification &amp; Foundations (31 SP | All M)</a:t>
            </a:r>
          </a:p>
        </p:txBody>
      </p:sp>
      <p:pic>
        <p:nvPicPr>
          <p:cNvPr id="9" name="Picture 8" descr="sprint1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800000"/>
            <a:ext cx="8640000" cy="82668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20000" y="1368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F37"/>
                </a:solidFill>
              </a:rPr>
              <a:t>Sprint 2 — Acquisitions &amp; Loans (32 SP | All M)</a:t>
            </a:r>
          </a:p>
        </p:txBody>
      </p:sp>
      <p:pic>
        <p:nvPicPr>
          <p:cNvPr id="11" name="Picture 10" descr="sprint2_use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00" y="1800000"/>
            <a:ext cx="7920000" cy="7111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Use Case Diagrams — Sprint 3 &amp;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Should Have &amp; Could Have stories · 61 SP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368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Sprint 3 — Reservations &amp; Catalogue (31 SP | M+S)</a:t>
            </a:r>
          </a:p>
        </p:txBody>
      </p:sp>
      <p:pic>
        <p:nvPicPr>
          <p:cNvPr id="9" name="Picture 8" descr="sprint3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800000"/>
            <a:ext cx="8640000" cy="92845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20000" y="1368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Sprint 4 — Quality &amp; Transfers (30 SP | S+C)</a:t>
            </a:r>
          </a:p>
        </p:txBody>
      </p:sp>
      <p:pic>
        <p:nvPicPr>
          <p:cNvPr id="11" name="Picture 10" descr="sprint4_use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00" y="1800000"/>
            <a:ext cx="7920000" cy="71115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208000" y="9279001"/>
            <a:ext cx="792000" cy="792000"/>
          </a:xfrm>
          <a:prstGeom prst="ellipse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ISO/IEC 25010 quality model — 12 critical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08000" y="9855000"/>
            <a:ext cx="61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[Name 1]  |  [Name 2]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20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627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Response time &lt; 3s
50+ concurrent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20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2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6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0" y="2627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Mandatory auth
Personal data protection (GDPR)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204000" y="1620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04000" y="1620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8000" y="1728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8000" y="2232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8000" y="2627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99% uptime (business hrs)
24/7 online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4428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000" y="4428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000" y="4536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🖥️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000" y="5040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5435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Intuitive UI
Responsive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2000" y="4428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2000" y="4428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6000" y="4536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6000" y="5040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6000" y="5435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Daily backups
Atomic transfers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204000" y="4428000"/>
            <a:ext cx="5580000" cy="25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204000" y="4428000"/>
            <a:ext cx="5580000" cy="125999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8000" y="4536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4F37"/>
                </a:solidFill>
              </a:rPr>
              <a:t>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8000" y="5040000"/>
            <a:ext cx="529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Compatibility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8000" y="5435999"/>
            <a:ext cx="52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Integrates with existing
library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152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000" y="108000"/>
            <a:ext cx="900000" cy="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208000" y="9279001"/>
            <a:ext cx="792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44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936000"/>
            <a:ext cx="16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Key takeaways from the Library Management System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3960000" cy="16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39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9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User Stories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60000" y="1620000"/>
            <a:ext cx="3960000" cy="16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0000" y="1800000"/>
            <a:ext cx="39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94F37"/>
                </a:solidFill>
              </a:rPr>
              <a:t>124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0000" y="259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Story 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0000" y="1620000"/>
            <a:ext cx="3960000" cy="16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000" y="1800000"/>
            <a:ext cx="39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94F37"/>
                </a:solidFill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000" y="259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Must Have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0" y="1620000"/>
            <a:ext cx="3960000" cy="16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00000" y="1800000"/>
            <a:ext cx="39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A500"/>
                </a:solidFill>
              </a:rPr>
              <a:t>16+1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00000" y="259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Should + Could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671999"/>
            <a:ext cx="16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Strict Scrum methodology with 4 Sprints and velocity ≤ 32 SP/Sprint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4283999"/>
            <a:ext cx="16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All 22 Must Have stories delivered in Sprints 1 &amp;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4895999"/>
            <a:ext cx="16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4 Use Case Diagrams — one per sprint, actors aligned with backlog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5507999"/>
            <a:ext cx="16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Non-functional requirements aligned with ISO/IEC 25010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6119999"/>
            <a:ext cx="16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Full traceability: Product Backlog → Sprint Backlog → UML Diagrams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9567000"/>
            <a:ext cx="18288000" cy="720000"/>
          </a:xfrm>
          <a:prstGeom prst="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9639000"/>
            <a:ext cx="1756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[Name 1]  |  [Name 2]  |  EPItech International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DAHHcFayKzk</dc:identifier>
  <dcterms:modified xsi:type="dcterms:W3CDTF">2011-08-01T06:04:30Z</dcterms:modified>
  <cp:revision>1</cp:revision>
  <dc:title>Modern Agile Methodology Infographic Presentation</dc:title>
</cp:coreProperties>
</file>